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7" r:id="rId5"/>
    <p:sldId id="261" r:id="rId6"/>
    <p:sldId id="262" r:id="rId7"/>
    <p:sldId id="263" r:id="rId8"/>
    <p:sldId id="264" r:id="rId9"/>
    <p:sldId id="265" r:id="rId10"/>
    <p:sldId id="266" r:id="rId11"/>
    <p:sldId id="26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6C16"/>
    <a:srgbClr val="0000FF"/>
    <a:srgbClr val="357BBB"/>
    <a:srgbClr val="2955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4" autoAdjust="0"/>
    <p:restoredTop sz="95324" autoAdjust="0"/>
  </p:normalViewPr>
  <p:slideViewPr>
    <p:cSldViewPr snapToGrid="0">
      <p:cViewPr varScale="1">
        <p:scale>
          <a:sx n="89" d="100"/>
          <a:sy n="89" d="100"/>
        </p:scale>
        <p:origin x="61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 rotWithShape="1">
          <a:blip r:embed="rId2"/>
          <a:srcRect l="80" t="2546" r="12170"/>
          <a:stretch/>
        </p:blipFill>
        <p:spPr>
          <a:xfrm>
            <a:off x="-9" y="0"/>
            <a:ext cx="12192009" cy="1318972"/>
          </a:xfrm>
          <a:prstGeom prst="rect">
            <a:avLst/>
          </a:prstGeom>
        </p:spPr>
      </p:pic>
      <p:cxnSp>
        <p:nvCxnSpPr>
          <p:cNvPr id="11" name="Straight Connector 10"/>
          <p:cNvCxnSpPr/>
          <p:nvPr userDrawn="1"/>
        </p:nvCxnSpPr>
        <p:spPr>
          <a:xfrm>
            <a:off x="-9" y="1318972"/>
            <a:ext cx="12192009" cy="0"/>
          </a:xfrm>
          <a:prstGeom prst="line">
            <a:avLst/>
          </a:prstGeom>
          <a:ln>
            <a:solidFill>
              <a:srgbClr val="29556E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13" name="Picture 12"/>
          <p:cNvPicPr>
            <a:picLocks noChangeAspect="1"/>
          </p:cNvPicPr>
          <p:nvPr userDrawn="1"/>
        </p:nvPicPr>
        <p:blipFill rotWithShape="1">
          <a:blip r:embed="rId3"/>
          <a:srcRect l="1077" t="4720" r="32014"/>
          <a:stretch/>
        </p:blipFill>
        <p:spPr>
          <a:xfrm>
            <a:off x="-52559" y="5529914"/>
            <a:ext cx="5833250" cy="13280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485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26093" y="6572748"/>
            <a:ext cx="12218094" cy="276999"/>
          </a:xfrm>
          <a:prstGeom prst="rect">
            <a:avLst/>
          </a:prstGeom>
        </p:spPr>
        <p:style>
          <a:lnRef idx="0">
            <a:schemeClr val="accent5"/>
          </a:lnRef>
          <a:fillRef idx="3">
            <a:schemeClr val="accent5"/>
          </a:fillRef>
          <a:effectRef idx="3">
            <a:schemeClr val="accent5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r"/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4</a:t>
            </a:r>
            <a:r>
              <a:rPr lang="en-US" sz="1200" i="1" baseline="30000" dirty="0">
                <a:latin typeface="Verdana" panose="020B0604030504040204" pitchFamily="34" charset="0"/>
                <a:ea typeface="Verdana" panose="020B0604030504040204" pitchFamily="34" charset="0"/>
              </a:rPr>
              <a:t>th</a:t>
            </a:r>
            <a:r>
              <a:rPr lang="en-US" sz="1200" i="1" dirty="0">
                <a:latin typeface="Verdana" panose="020B0604030504040204" pitchFamily="34" charset="0"/>
                <a:ea typeface="Verdana" panose="020B0604030504040204" pitchFamily="34" charset="0"/>
              </a:rPr>
              <a:t> International Symposium on KEDLD-2025 Jointly Organised By</a:t>
            </a:r>
            <a:r>
              <a:rPr lang="en-US" sz="1200" i="1" baseline="0" dirty="0">
                <a:latin typeface="Verdana" panose="020B0604030504040204" pitchFamily="34" charset="0"/>
                <a:ea typeface="Verdana" panose="020B0604030504040204" pitchFamily="34" charset="0"/>
              </a:rPr>
              <a:t> National Digital Library of Indian and Central Library IIT Kharagpur</a:t>
            </a:r>
            <a:endParaRPr lang="en-IN" sz="1200" i="1" dirty="0"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pic>
        <p:nvPicPr>
          <p:cNvPr id="1028" name="Picture 4" descr="https://kedld.ndl.gov.in/wp-content/uploads/2025/06/logo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8" y="52550"/>
            <a:ext cx="1486524" cy="367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Footer Placeholder 1"/>
          <p:cNvSpPr txBox="1">
            <a:spLocks/>
          </p:cNvSpPr>
          <p:nvPr userDrawn="1"/>
        </p:nvSpPr>
        <p:spPr>
          <a:xfrm>
            <a:off x="11176000" y="6205599"/>
            <a:ext cx="1016000" cy="357188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5pPr>
            <a:lvl6pPr marL="25146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6pPr>
            <a:lvl7pPr marL="29718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7pPr>
            <a:lvl8pPr marL="34290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8pPr>
            <a:lvl9pPr marL="3886200" indent="-22860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+mn-cs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fld id="{C4353225-3F33-4F74-A83B-0892D7254C40}" type="slidenum">
              <a:rPr lang="en-US" altLang="en-US" smtClean="0"/>
              <a:pPr algn="ctr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r>
              <a:rPr lang="en-US" altLang="en-US" dirty="0"/>
              <a:t> of  8</a:t>
            </a:r>
          </a:p>
        </p:txBody>
      </p:sp>
    </p:spTree>
    <p:extLst>
      <p:ext uri="{BB962C8B-B14F-4D97-AF65-F5344CB8AC3E}">
        <p14:creationId xmlns:p14="http://schemas.microsoft.com/office/powerpoint/2010/main" val="1380536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9513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5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225783" y="2211573"/>
            <a:ext cx="9980935" cy="36798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7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Library AI Assistant:</a:t>
            </a:r>
          </a:p>
          <a:p>
            <a:pPr>
              <a:lnSpc>
                <a:spcPts val="5500"/>
              </a:lnSpc>
            </a:pP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A RAG-Based Chatbot Using</a:t>
            </a:r>
          </a:p>
          <a:p>
            <a:pPr>
              <a:lnSpc>
                <a:spcPts val="5500"/>
              </a:lnSpc>
            </a:pP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Large Language Models (LLMs)</a:t>
            </a:r>
            <a:endParaRPr lang="en-US" sz="4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5500"/>
              </a:lnSpc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3150"/>
              </a:lnSpc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Mir Owahed Ali</a:t>
            </a:r>
            <a:r>
              <a:rPr lang="en-US" sz="2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, Project Engineer (Content Curation), NDLI, IIT Kharagpur</a:t>
            </a:r>
          </a:p>
          <a:p>
            <a:pPr marL="0" indent="0" algn="l">
              <a:lnSpc>
                <a:spcPts val="3150"/>
              </a:lnSpc>
              <a:buNone/>
            </a:pPr>
            <a:r>
              <a:rPr lang="en-US" sz="2400" b="1" dirty="0">
                <a:solidFill>
                  <a:srgbClr val="0000FF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Dr. B. </a:t>
            </a:r>
            <a:r>
              <a:rPr lang="en-US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Sutradhar</a:t>
            </a:r>
            <a:r>
              <a:rPr lang="en-US" sz="2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, Librarian &amp; Joint-PI, NDLI, Central Library, IIT Kharagpur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C014EF-37BB-4A2B-9301-E9E4F4CCA9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251" y="140746"/>
            <a:ext cx="991721" cy="9917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F9D9F24-8540-4C14-86AC-3AE8AB0BDC7B}"/>
              </a:ext>
            </a:extLst>
          </p:cNvPr>
          <p:cNvSpPr txBox="1"/>
          <p:nvPr/>
        </p:nvSpPr>
        <p:spPr>
          <a:xfrm>
            <a:off x="1225783" y="1442132"/>
            <a:ext cx="613185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Design</a:t>
            </a:r>
            <a:r>
              <a:rPr lang="en-IN" sz="2800" b="1" dirty="0">
                <a:effectLst/>
                <a:latin typeface="Liberation Serif"/>
                <a:ea typeface="NSimSun" panose="02010609030101010101" pitchFamily="49" charset="-122"/>
                <a:cs typeface="Lucida Sans" panose="020B0602030504020204" pitchFamily="34" charset="0"/>
              </a:rPr>
              <a:t> </a:t>
            </a:r>
            <a:r>
              <a:rPr lang="en-IN" sz="28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and Implementation of  </a:t>
            </a:r>
          </a:p>
        </p:txBody>
      </p:sp>
    </p:spTree>
    <p:extLst>
      <p:ext uri="{BB962C8B-B14F-4D97-AF65-F5344CB8AC3E}">
        <p14:creationId xmlns:p14="http://schemas.microsoft.com/office/powerpoint/2010/main" val="39871182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88E2E83-40ED-41F5-B30F-C1467DC58B92}"/>
              </a:ext>
            </a:extLst>
          </p:cNvPr>
          <p:cNvSpPr/>
          <p:nvPr/>
        </p:nvSpPr>
        <p:spPr>
          <a:xfrm>
            <a:off x="579849" y="588048"/>
            <a:ext cx="5594747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Problem Statement</a:t>
            </a:r>
            <a:endParaRPr lang="en-US" sz="4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03EEB3E-7CC0-4C53-AF36-A41A34DF0BDB}"/>
              </a:ext>
            </a:extLst>
          </p:cNvPr>
          <p:cNvSpPr/>
          <p:nvPr/>
        </p:nvSpPr>
        <p:spPr>
          <a:xfrm>
            <a:off x="579849" y="1942622"/>
            <a:ext cx="10274617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Users struggle with keyword-based search limitations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DF78475-E3DF-47B1-8452-6537465B3326}"/>
              </a:ext>
            </a:extLst>
          </p:cNvPr>
          <p:cNvSpPr/>
          <p:nvPr/>
        </p:nvSpPr>
        <p:spPr>
          <a:xfrm>
            <a:off x="579849" y="3012844"/>
            <a:ext cx="1079098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browsing across multiple web-pages and documents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055C9D6-BBFB-4172-A0EC-B4D6C552FA37}"/>
              </a:ext>
            </a:extLst>
          </p:cNvPr>
          <p:cNvSpPr/>
          <p:nvPr/>
        </p:nvSpPr>
        <p:spPr>
          <a:xfrm>
            <a:off x="579849" y="4100420"/>
            <a:ext cx="11285836" cy="9515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alone produce hallucinations without domain-specific data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789DBCD-9EC4-4624-BDBB-D066571CBCC1}"/>
              </a:ext>
            </a:extLst>
          </p:cNvPr>
          <p:cNvSpPr/>
          <p:nvPr/>
        </p:nvSpPr>
        <p:spPr>
          <a:xfrm>
            <a:off x="579849" y="5295539"/>
            <a:ext cx="11167502" cy="717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>
              <a:lnSpc>
                <a:spcPts val="315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Static FAQs don't provide natural language queries</a:t>
            </a:r>
          </a:p>
        </p:txBody>
      </p:sp>
    </p:spTree>
    <p:extLst>
      <p:ext uri="{BB962C8B-B14F-4D97-AF65-F5344CB8AC3E}">
        <p14:creationId xmlns:p14="http://schemas.microsoft.com/office/powerpoint/2010/main" val="26240601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3EF8528-F3BB-4155-AD30-C70FB38E5B92}"/>
              </a:ext>
            </a:extLst>
          </p:cNvPr>
          <p:cNvSpPr/>
          <p:nvPr/>
        </p:nvSpPr>
        <p:spPr>
          <a:xfrm>
            <a:off x="3358544" y="395537"/>
            <a:ext cx="5314950" cy="6643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System Objectives</a:t>
            </a:r>
            <a:endParaRPr lang="en-US" sz="4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3CDE38C3-6226-42D3-89A3-B226CC43A38A}"/>
              </a:ext>
            </a:extLst>
          </p:cNvPr>
          <p:cNvSpPr/>
          <p:nvPr/>
        </p:nvSpPr>
        <p:spPr>
          <a:xfrm>
            <a:off x="6257608" y="4345653"/>
            <a:ext cx="2415886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Enhanced Discovery</a:t>
            </a:r>
            <a:endParaRPr lang="en-US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C8D3FCE-FD22-4A5B-B260-DA6ADE12E6C7}"/>
              </a:ext>
            </a:extLst>
          </p:cNvPr>
          <p:cNvSpPr/>
          <p:nvPr/>
        </p:nvSpPr>
        <p:spPr>
          <a:xfrm>
            <a:off x="6371056" y="4801018"/>
            <a:ext cx="5790724" cy="76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Quick access to library information through natural language queries.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F425F66-7E28-4D18-A046-A37558C72B05}"/>
              </a:ext>
            </a:extLst>
          </p:cNvPr>
          <p:cNvSpPr/>
          <p:nvPr/>
        </p:nvSpPr>
        <p:spPr>
          <a:xfrm>
            <a:off x="6257608" y="1847980"/>
            <a:ext cx="2415886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Concise</a:t>
            </a:r>
            <a:r>
              <a:rPr lang="en-US" sz="2050" b="1" dirty="0"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Responses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882FA91B-7471-4136-8366-9494E9B7B755}"/>
              </a:ext>
            </a:extLst>
          </p:cNvPr>
          <p:cNvSpPr/>
          <p:nvPr/>
        </p:nvSpPr>
        <p:spPr>
          <a:xfrm>
            <a:off x="6400029" y="2323634"/>
            <a:ext cx="5264295" cy="1357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Summarized and brief answers from multiple documents without browsing.</a:t>
            </a: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319107A6-8140-4594-8009-5472A900E167}"/>
              </a:ext>
            </a:extLst>
          </p:cNvPr>
          <p:cNvSpPr/>
          <p:nvPr/>
        </p:nvSpPr>
        <p:spPr>
          <a:xfrm>
            <a:off x="455121" y="4223093"/>
            <a:ext cx="2415886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Time Savings</a:t>
            </a:r>
          </a:p>
        </p:txBody>
      </p:sp>
      <p:sp>
        <p:nvSpPr>
          <p:cNvPr id="17" name="Text 12">
            <a:extLst>
              <a:ext uri="{FF2B5EF4-FFF2-40B4-BE49-F238E27FC236}">
                <a16:creationId xmlns:a16="http://schemas.microsoft.com/office/drawing/2014/main" id="{67581F2C-B909-46F3-AF89-03E4D189F026}"/>
              </a:ext>
            </a:extLst>
          </p:cNvPr>
          <p:cNvSpPr/>
          <p:nvPr/>
        </p:nvSpPr>
        <p:spPr>
          <a:xfrm>
            <a:off x="523078" y="4801018"/>
            <a:ext cx="5264295" cy="76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</a:t>
            </a:r>
            <a:r>
              <a:rPr lang="en-US" sz="185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staff workload and user search time significantly.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8ACDD094-6463-4232-9E24-2CF70AB44C61}"/>
              </a:ext>
            </a:extLst>
          </p:cNvPr>
          <p:cNvSpPr/>
          <p:nvPr/>
        </p:nvSpPr>
        <p:spPr>
          <a:xfrm>
            <a:off x="455121" y="1847980"/>
            <a:ext cx="3542608" cy="3321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Semantic Search</a:t>
            </a: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6C4746B1-18DB-4B4D-B8D6-5411083D1B71}"/>
              </a:ext>
            </a:extLst>
          </p:cNvPr>
          <p:cNvSpPr/>
          <p:nvPr/>
        </p:nvSpPr>
        <p:spPr>
          <a:xfrm>
            <a:off x="529788" y="2311206"/>
            <a:ext cx="5264295" cy="7653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relevant responses by understanding user's query, rather than keywords matching.</a:t>
            </a:r>
          </a:p>
        </p:txBody>
      </p:sp>
    </p:spTree>
    <p:extLst>
      <p:ext uri="{BB962C8B-B14F-4D97-AF65-F5344CB8AC3E}">
        <p14:creationId xmlns:p14="http://schemas.microsoft.com/office/powerpoint/2010/main" val="20594152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7770C83-115F-458F-9186-82037E92406D}"/>
              </a:ext>
            </a:extLst>
          </p:cNvPr>
          <p:cNvSpPr txBox="1"/>
          <p:nvPr/>
        </p:nvSpPr>
        <p:spPr>
          <a:xfrm>
            <a:off x="403411" y="1011219"/>
            <a:ext cx="1105886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Retrieval Augmented Generation</a:t>
            </a:r>
          </a:p>
          <a:p>
            <a:pPr algn="ctr"/>
            <a:r>
              <a:rPr lang="en-US" sz="6000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(RAG) </a:t>
            </a:r>
            <a:endParaRPr lang="en-IN" sz="6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151D8A8-A75B-4060-99A8-2F0303F86A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3468" y="3529983"/>
            <a:ext cx="9585064" cy="2977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397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C6291E9-F2F1-4E5A-8FB6-E08ACCD590E5}"/>
              </a:ext>
            </a:extLst>
          </p:cNvPr>
          <p:cNvSpPr/>
          <p:nvPr/>
        </p:nvSpPr>
        <p:spPr>
          <a:xfrm>
            <a:off x="2870716" y="292892"/>
            <a:ext cx="6450568" cy="662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00"/>
              </a:lnSpc>
              <a:buNone/>
            </a:pPr>
            <a:r>
              <a:rPr lang="en-US" sz="415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RAG </a:t>
            </a: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Pipeline</a:t>
            </a:r>
            <a:r>
              <a:rPr lang="en-US" sz="415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Architecture</a:t>
            </a:r>
            <a:endParaRPr lang="en-US" sz="415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57938C9-15E3-4991-B766-98B8DAD7D76A}"/>
              </a:ext>
            </a:extLst>
          </p:cNvPr>
          <p:cNvSpPr/>
          <p:nvPr/>
        </p:nvSpPr>
        <p:spPr>
          <a:xfrm>
            <a:off x="921577" y="1114362"/>
            <a:ext cx="5048917" cy="3974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I. Data Ingestion Process</a:t>
            </a:r>
            <a:endParaRPr lang="en-US" sz="3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9D565E3C-8795-4A4B-A489-A341E42DCB88}"/>
              </a:ext>
            </a:extLst>
          </p:cNvPr>
          <p:cNvSpPr/>
          <p:nvPr/>
        </p:nvSpPr>
        <p:spPr>
          <a:xfrm>
            <a:off x="622310" y="1986647"/>
            <a:ext cx="4035751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1. Data Collection</a:t>
            </a:r>
            <a:endParaRPr lang="en-US" sz="32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58226FD0-23F6-4124-8935-015A6FDF9292}"/>
              </a:ext>
            </a:extLst>
          </p:cNvPr>
          <p:cNvSpPr/>
          <p:nvPr/>
        </p:nvSpPr>
        <p:spPr>
          <a:xfrm>
            <a:off x="622309" y="2450114"/>
            <a:ext cx="6172199" cy="9788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pages are crawled or scraped.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 docs in PDFs, PPTs etc. are collected.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89375BF-BAF7-4FFB-9B04-818409EA06A9}"/>
              </a:ext>
            </a:extLst>
          </p:cNvPr>
          <p:cNvSpPr/>
          <p:nvPr/>
        </p:nvSpPr>
        <p:spPr>
          <a:xfrm>
            <a:off x="7058829" y="1975889"/>
            <a:ext cx="4172155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2.</a:t>
            </a:r>
            <a:r>
              <a:rPr lang="en-US" sz="205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Parsing</a:t>
            </a:r>
            <a:r>
              <a:rPr lang="en-US" sz="205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&amp; Chunking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6B88E307-87ED-4861-99B8-B8E374AFD681}"/>
              </a:ext>
            </a:extLst>
          </p:cNvPr>
          <p:cNvSpPr/>
          <p:nvPr/>
        </p:nvSpPr>
        <p:spPr>
          <a:xfrm>
            <a:off x="7058829" y="2450115"/>
            <a:ext cx="5043524" cy="11964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Converted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 Markdown/JSON.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 into chunks (1k-2k)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ch.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3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LLMs has a context window limit.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40B328C5-94BD-4441-9011-5202D1D6E9D6}"/>
              </a:ext>
            </a:extLst>
          </p:cNvPr>
          <p:cNvSpPr/>
          <p:nvPr/>
        </p:nvSpPr>
        <p:spPr>
          <a:xfrm>
            <a:off x="622310" y="3690983"/>
            <a:ext cx="2650093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3. Embedding</a:t>
            </a:r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8C664775-A3E9-4FA3-9FB9-A8F8D8C25E2A}"/>
              </a:ext>
            </a:extLst>
          </p:cNvPr>
          <p:cNvSpPr/>
          <p:nvPr/>
        </p:nvSpPr>
        <p:spPr>
          <a:xfrm>
            <a:off x="7058829" y="4138473"/>
            <a:ext cx="2650093" cy="331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4.Vector</a:t>
            </a:r>
            <a:r>
              <a:rPr lang="en-US" sz="205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Storage</a:t>
            </a:r>
          </a:p>
        </p:txBody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950EB7F0-77F7-42A7-8D44-21A4870BB60B}"/>
              </a:ext>
            </a:extLst>
          </p:cNvPr>
          <p:cNvSpPr/>
          <p:nvPr/>
        </p:nvSpPr>
        <p:spPr>
          <a:xfrm>
            <a:off x="7058829" y="4612698"/>
            <a:ext cx="4839129" cy="11964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</a:t>
            </a:r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FAISS,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Cosine similarity is</a:t>
            </a:r>
          </a:p>
          <a:p>
            <a:pPr marL="0" indent="0" algn="l">
              <a:lnSpc>
                <a:spcPts val="300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9D457C7-E92A-4A9B-8566-5D5A7E705A99}"/>
              </a:ext>
            </a:extLst>
          </p:cNvPr>
          <p:cNvSpPr txBox="1"/>
          <p:nvPr/>
        </p:nvSpPr>
        <p:spPr>
          <a:xfrm>
            <a:off x="622310" y="4106834"/>
            <a:ext cx="61722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text chunk is transformed vectors using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OpenAI's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text-embedding-3-small. Embedding dimensions like 1536 is used to capture the semantic relation. 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B382282-879C-4186-BB07-3E6952BEFFF5}"/>
              </a:ext>
            </a:extLst>
          </p:cNvPr>
          <p:cNvSpPr/>
          <p:nvPr/>
        </p:nvSpPr>
        <p:spPr>
          <a:xfrm>
            <a:off x="419549" y="6033165"/>
            <a:ext cx="11392348" cy="3814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320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Each step is critical for building a robust RAG system</a:t>
            </a:r>
            <a:endParaRPr lang="en-US" sz="3200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57225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DD8B9B7-8783-4A9F-8BEE-342A2F8D514C}"/>
              </a:ext>
            </a:extLst>
          </p:cNvPr>
          <p:cNvSpPr/>
          <p:nvPr/>
        </p:nvSpPr>
        <p:spPr>
          <a:xfrm>
            <a:off x="547573" y="544464"/>
            <a:ext cx="7265194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II. Query Retrieval &amp; Response</a:t>
            </a:r>
            <a:endParaRPr lang="en-US" sz="4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5C6224E-B8DE-480C-BDA7-EC57BB4AFEA3}"/>
              </a:ext>
            </a:extLst>
          </p:cNvPr>
          <p:cNvSpPr/>
          <p:nvPr/>
        </p:nvSpPr>
        <p:spPr>
          <a:xfrm>
            <a:off x="547573" y="1747233"/>
            <a:ext cx="25169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2060"/>
                </a:solidFill>
                <a:latin typeface="Times New Roman" panose="02020603050405020304" pitchFamily="18" charset="0"/>
                <a:ea typeface="Spline Sans Light" pitchFamily="34" charset="-122"/>
                <a:cs typeface="Times New Roman" panose="02020603050405020304" pitchFamily="18" charset="0"/>
              </a:rPr>
              <a:t>01</a:t>
            </a:r>
            <a:endParaRPr lang="en-US" sz="195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746B8DD-C559-4B8E-A3AD-44C36B35A762}"/>
              </a:ext>
            </a:extLst>
          </p:cNvPr>
          <p:cNvSpPr/>
          <p:nvPr/>
        </p:nvSpPr>
        <p:spPr>
          <a:xfrm flipV="1">
            <a:off x="547574" y="2109584"/>
            <a:ext cx="3938366" cy="45719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AEACBF7-CA7C-4FE9-B1D7-F23645CF3E4A}"/>
              </a:ext>
            </a:extLst>
          </p:cNvPr>
          <p:cNvSpPr/>
          <p:nvPr/>
        </p:nvSpPr>
        <p:spPr>
          <a:xfrm>
            <a:off x="547573" y="2331354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User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Query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Input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577377E-5E9A-4FB1-931A-FAA305269D84}"/>
              </a:ext>
            </a:extLst>
          </p:cNvPr>
          <p:cNvSpPr/>
          <p:nvPr/>
        </p:nvSpPr>
        <p:spPr>
          <a:xfrm>
            <a:off x="547574" y="2832012"/>
            <a:ext cx="3938366" cy="109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Natural language question submitted via chat interface.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929555C-418D-4745-8A43-22EA2DA895CD}"/>
              </a:ext>
            </a:extLst>
          </p:cNvPr>
          <p:cNvSpPr/>
          <p:nvPr/>
        </p:nvSpPr>
        <p:spPr>
          <a:xfrm>
            <a:off x="4920857" y="1747233"/>
            <a:ext cx="25169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2060"/>
                </a:solidFill>
                <a:latin typeface="Times New Roman" panose="02020603050405020304" pitchFamily="18" charset="0"/>
                <a:ea typeface="Spline Sans Light" pitchFamily="34" charset="-122"/>
                <a:cs typeface="Times New Roman" panose="02020603050405020304" pitchFamily="18" charset="0"/>
              </a:rPr>
              <a:t>02</a:t>
            </a:r>
            <a:endParaRPr lang="en-US" sz="195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CB78BE5D-3BD2-4172-BF1E-510A41B73DCA}"/>
              </a:ext>
            </a:extLst>
          </p:cNvPr>
          <p:cNvSpPr/>
          <p:nvPr/>
        </p:nvSpPr>
        <p:spPr>
          <a:xfrm>
            <a:off x="4920857" y="2144544"/>
            <a:ext cx="3599199" cy="45719"/>
          </a:xfrm>
          <a:prstGeom prst="rect">
            <a:avLst/>
          </a:prstGeom>
          <a:solidFill>
            <a:srgbClr val="29DDDA"/>
          </a:solidFill>
          <a:ln/>
        </p:spPr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72F204C6-B416-4595-9FA2-2044ECC89794}"/>
              </a:ext>
            </a:extLst>
          </p:cNvPr>
          <p:cNvSpPr/>
          <p:nvPr/>
        </p:nvSpPr>
        <p:spPr>
          <a:xfrm>
            <a:off x="4920857" y="2331354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Query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Embedding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C91BDA02-C7FB-4935-8ED4-04F07D33C579}"/>
              </a:ext>
            </a:extLst>
          </p:cNvPr>
          <p:cNvSpPr/>
          <p:nvPr/>
        </p:nvSpPr>
        <p:spPr>
          <a:xfrm>
            <a:off x="4920858" y="2832012"/>
            <a:ext cx="3717534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query to vector using </a:t>
            </a:r>
            <a:r>
              <a:rPr lang="en-US" sz="2400" dirty="0">
                <a:highlight>
                  <a:srgbClr val="FFFF00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same embedding model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F3A9497-63F5-442E-B6D5-32D430CC3E54}"/>
              </a:ext>
            </a:extLst>
          </p:cNvPr>
          <p:cNvSpPr/>
          <p:nvPr/>
        </p:nvSpPr>
        <p:spPr>
          <a:xfrm>
            <a:off x="8831563" y="1747233"/>
            <a:ext cx="25169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2060"/>
                </a:solidFill>
                <a:latin typeface="Times New Roman" panose="02020603050405020304" pitchFamily="18" charset="0"/>
                <a:ea typeface="Spline Sans Light" pitchFamily="34" charset="-122"/>
                <a:cs typeface="Times New Roman" panose="02020603050405020304" pitchFamily="18" charset="0"/>
              </a:rPr>
              <a:t>03</a:t>
            </a:r>
            <a:endParaRPr lang="en-US" sz="195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3A81ADDF-5F8D-4863-8B01-D4FD6C7CFDC0}"/>
              </a:ext>
            </a:extLst>
          </p:cNvPr>
          <p:cNvSpPr/>
          <p:nvPr/>
        </p:nvSpPr>
        <p:spPr>
          <a:xfrm flipV="1">
            <a:off x="8831563" y="2061915"/>
            <a:ext cx="2657604" cy="82630"/>
          </a:xfrm>
          <a:prstGeom prst="rect">
            <a:avLst/>
          </a:prstGeom>
          <a:solidFill>
            <a:srgbClr val="37A7E7"/>
          </a:solidFill>
          <a:ln/>
        </p:spPr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5128E638-2D4C-459B-B035-EB7AA3AE850C}"/>
              </a:ext>
            </a:extLst>
          </p:cNvPr>
          <p:cNvSpPr/>
          <p:nvPr/>
        </p:nvSpPr>
        <p:spPr>
          <a:xfrm>
            <a:off x="8831563" y="2331354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Similarity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Search</a:t>
            </a:r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C8D141CE-EB2A-409C-AA6B-1C1A20AACA74}"/>
              </a:ext>
            </a:extLst>
          </p:cNvPr>
          <p:cNvSpPr/>
          <p:nvPr/>
        </p:nvSpPr>
        <p:spPr>
          <a:xfrm>
            <a:off x="8831563" y="2832012"/>
            <a:ext cx="3206244" cy="1344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Cosine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similarity retrieves </a:t>
            </a:r>
          </a:p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top k=3-5 relevant chunks </a:t>
            </a:r>
          </a:p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vector DB.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0382678-CF53-4ADE-9355-498CBCF84AE9}"/>
              </a:ext>
            </a:extLst>
          </p:cNvPr>
          <p:cNvSpPr/>
          <p:nvPr/>
        </p:nvSpPr>
        <p:spPr>
          <a:xfrm>
            <a:off x="547573" y="4078239"/>
            <a:ext cx="25169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2060"/>
                </a:solidFill>
                <a:latin typeface="Times New Roman" panose="02020603050405020304" pitchFamily="18" charset="0"/>
                <a:ea typeface="Spline Sans Light" pitchFamily="34" charset="-122"/>
                <a:cs typeface="Times New Roman" panose="02020603050405020304" pitchFamily="18" charset="0"/>
              </a:rPr>
              <a:t>04</a:t>
            </a:r>
            <a:endParaRPr lang="en-US" sz="195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5FA2B5B1-7FD9-4D33-B262-C072D4C67E6C}"/>
              </a:ext>
            </a:extLst>
          </p:cNvPr>
          <p:cNvSpPr/>
          <p:nvPr/>
        </p:nvSpPr>
        <p:spPr>
          <a:xfrm>
            <a:off x="547573" y="4475549"/>
            <a:ext cx="5057161" cy="68341"/>
          </a:xfrm>
          <a:prstGeom prst="rect">
            <a:avLst/>
          </a:prstGeom>
          <a:solidFill>
            <a:srgbClr val="091231"/>
          </a:solidFill>
          <a:ln/>
        </p:spPr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E7E30AB8-A18C-4646-A7E6-2F24217EC097}"/>
              </a:ext>
            </a:extLst>
          </p:cNvPr>
          <p:cNvSpPr/>
          <p:nvPr/>
        </p:nvSpPr>
        <p:spPr>
          <a:xfrm>
            <a:off x="547573" y="4662359"/>
            <a:ext cx="5057161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Context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+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System Prompt</a:t>
            </a:r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C03191EE-6327-4079-8AF9-6D7834439855}"/>
              </a:ext>
            </a:extLst>
          </p:cNvPr>
          <p:cNvSpPr/>
          <p:nvPr/>
        </p:nvSpPr>
        <p:spPr>
          <a:xfrm>
            <a:off x="547573" y="5163017"/>
            <a:ext cx="5799439" cy="10613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5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Retrieved chunks sent to LLM with system prompt for guidance.</a:t>
            </a:r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9EA027AE-E198-4DC8-8752-038E16E4D62E}"/>
              </a:ext>
            </a:extLst>
          </p:cNvPr>
          <p:cNvSpPr/>
          <p:nvPr/>
        </p:nvSpPr>
        <p:spPr>
          <a:xfrm>
            <a:off x="7107559" y="4078239"/>
            <a:ext cx="251698" cy="3146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1950" dirty="0">
                <a:solidFill>
                  <a:srgbClr val="002060"/>
                </a:solidFill>
                <a:latin typeface="Times New Roman" panose="02020603050405020304" pitchFamily="18" charset="0"/>
                <a:ea typeface="Spline Sans Light" pitchFamily="34" charset="-122"/>
                <a:cs typeface="Times New Roman" panose="02020603050405020304" pitchFamily="18" charset="0"/>
              </a:rPr>
              <a:t>05</a:t>
            </a:r>
            <a:endParaRPr lang="en-US" sz="195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8">
            <a:extLst>
              <a:ext uri="{FF2B5EF4-FFF2-40B4-BE49-F238E27FC236}">
                <a16:creationId xmlns:a16="http://schemas.microsoft.com/office/drawing/2014/main" id="{876A3507-20B0-4B11-92EA-DCDA79F11C2A}"/>
              </a:ext>
            </a:extLst>
          </p:cNvPr>
          <p:cNvSpPr/>
          <p:nvPr/>
        </p:nvSpPr>
        <p:spPr>
          <a:xfrm flipV="1">
            <a:off x="7107559" y="4429831"/>
            <a:ext cx="4682822" cy="45719"/>
          </a:xfrm>
          <a:prstGeom prst="rect">
            <a:avLst/>
          </a:prstGeom>
          <a:solidFill>
            <a:srgbClr val="16FFBB"/>
          </a:solidFill>
          <a:ln/>
        </p:spPr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794A89AB-775E-4DB6-B44E-E93B0B1E7760}"/>
              </a:ext>
            </a:extLst>
          </p:cNvPr>
          <p:cNvSpPr/>
          <p:nvPr/>
        </p:nvSpPr>
        <p:spPr>
          <a:xfrm>
            <a:off x="7107559" y="4662359"/>
            <a:ext cx="2813328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Response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Generation</a:t>
            </a:r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9A9F5F3B-547E-43D5-8D4B-7F41E8D364A5}"/>
              </a:ext>
            </a:extLst>
          </p:cNvPr>
          <p:cNvSpPr/>
          <p:nvPr/>
        </p:nvSpPr>
        <p:spPr>
          <a:xfrm>
            <a:off x="7107560" y="5163016"/>
            <a:ext cx="4682822" cy="10613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LLM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(Mistral/LLaMA) generates</a:t>
            </a:r>
          </a:p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semantic, concise answer.</a:t>
            </a:r>
          </a:p>
        </p:txBody>
      </p:sp>
    </p:spTree>
    <p:extLst>
      <p:ext uri="{BB962C8B-B14F-4D97-AF65-F5344CB8AC3E}">
        <p14:creationId xmlns:p14="http://schemas.microsoft.com/office/powerpoint/2010/main" val="1902670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2B1562A-6BC4-42AD-9FA0-C69F994A1A85}"/>
              </a:ext>
            </a:extLst>
          </p:cNvPr>
          <p:cNvSpPr/>
          <p:nvPr/>
        </p:nvSpPr>
        <p:spPr>
          <a:xfrm>
            <a:off x="0" y="706279"/>
            <a:ext cx="12113111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850"/>
              </a:lnSpc>
              <a:buNone/>
            </a:pP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Retrieval Augmented Generation (RAG) Flow</a:t>
            </a:r>
            <a:endParaRPr lang="en-US" sz="4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1E6B791-EF42-4895-8789-6DB4210CB1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0287" y="1699708"/>
            <a:ext cx="9312536" cy="48409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4E33A11-7C72-4F0A-8AE1-AA155E88E2C2}"/>
              </a:ext>
            </a:extLst>
          </p:cNvPr>
          <p:cNvSpPr txBox="1"/>
          <p:nvPr/>
        </p:nvSpPr>
        <p:spPr>
          <a:xfrm>
            <a:off x="513677" y="6151721"/>
            <a:ext cx="6169510" cy="3580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8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Image source: Medium</a:t>
            </a:r>
            <a:endParaRPr lang="en-US" sz="18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91736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BA7E71-782E-4FE1-9E4F-303855453C40}"/>
              </a:ext>
            </a:extLst>
          </p:cNvPr>
          <p:cNvSpPr/>
          <p:nvPr/>
        </p:nvSpPr>
        <p:spPr>
          <a:xfrm>
            <a:off x="2918241" y="244631"/>
            <a:ext cx="6832044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Technical Implementation</a:t>
            </a:r>
            <a:endParaRPr lang="en-US" sz="4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A2667B1B-A787-4D09-8F90-5CAF12FF40AA}"/>
              </a:ext>
            </a:extLst>
          </p:cNvPr>
          <p:cNvSpPr/>
          <p:nvPr/>
        </p:nvSpPr>
        <p:spPr>
          <a:xfrm>
            <a:off x="493782" y="1237915"/>
            <a:ext cx="3356848" cy="41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Core</a:t>
            </a:r>
            <a:r>
              <a: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Components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150BCF4-5278-4C95-9C55-B83A753340F4}"/>
              </a:ext>
            </a:extLst>
          </p:cNvPr>
          <p:cNvSpPr/>
          <p:nvPr/>
        </p:nvSpPr>
        <p:spPr>
          <a:xfrm>
            <a:off x="224843" y="1962426"/>
            <a:ext cx="5132464" cy="402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LLMs:</a:t>
            </a:r>
            <a:r>
              <a:rPr lang="en-US" sz="2400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Meta Llama, Mistral, IBM Granite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9CA5F47-F139-4E73-9323-3961AA785A21}"/>
              </a:ext>
            </a:extLst>
          </p:cNvPr>
          <p:cNvSpPr/>
          <p:nvPr/>
        </p:nvSpPr>
        <p:spPr>
          <a:xfrm>
            <a:off x="224842" y="2517988"/>
            <a:ext cx="5605802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Embedding</a:t>
            </a:r>
            <a:r>
              <a:rPr lang="en-US" sz="1950" b="1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nomic-embed-text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  <a:p>
            <a:pPr algn="l">
              <a:lnSpc>
                <a:spcPts val="3150"/>
              </a:lnSpc>
              <a:buSzPct val="100000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    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OpenAI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text-embedding-3-small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1EE7194B-8527-465C-B052-E348D9B05928}"/>
              </a:ext>
            </a:extLst>
          </p:cNvPr>
          <p:cNvSpPr/>
          <p:nvPr/>
        </p:nvSpPr>
        <p:spPr>
          <a:xfrm>
            <a:off x="224842" y="3433425"/>
            <a:ext cx="5767165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 DBs: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FAISS, Supabase,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ChromaDB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A47496F-5689-48D7-8AC1-EEBC4A966C67}"/>
              </a:ext>
            </a:extLst>
          </p:cNvPr>
          <p:cNvSpPr/>
          <p:nvPr/>
        </p:nvSpPr>
        <p:spPr>
          <a:xfrm>
            <a:off x="224842" y="3954851"/>
            <a:ext cx="5476709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+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LangChain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		  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Flowise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Langflow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137F9729-BCF6-4F56-8121-4DBD591F7676}"/>
              </a:ext>
            </a:extLst>
          </p:cNvPr>
          <p:cNvSpPr/>
          <p:nvPr/>
        </p:nvSpPr>
        <p:spPr>
          <a:xfrm>
            <a:off x="224843" y="5382638"/>
            <a:ext cx="5476710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Memory: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 Window or PostgreSQL  		for chat session.</a:t>
            </a:r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156336A8-2B5C-47FA-A504-B66D26F1C23A}"/>
              </a:ext>
            </a:extLst>
          </p:cNvPr>
          <p:cNvSpPr/>
          <p:nvPr/>
        </p:nvSpPr>
        <p:spPr>
          <a:xfrm>
            <a:off x="6012675" y="1237914"/>
            <a:ext cx="3356848" cy="41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Deployment</a:t>
            </a:r>
            <a:r>
              <a: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Options</a:t>
            </a:r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0A684D1-9031-417A-8D24-697A9FE525CB}"/>
              </a:ext>
            </a:extLst>
          </p:cNvPr>
          <p:cNvSpPr/>
          <p:nvPr/>
        </p:nvSpPr>
        <p:spPr>
          <a:xfrm>
            <a:off x="6012674" y="1940901"/>
            <a:ext cx="6659834" cy="196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Local</a:t>
            </a:r>
            <a:r>
              <a:rPr lang="en-US" sz="1950" b="1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:</a:t>
            </a:r>
            <a:r>
              <a:rPr lang="en-US" sz="1950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Ollama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Docker Model Runner (GPU/CPU)</a:t>
            </a:r>
          </a:p>
          <a:p>
            <a:pPr marL="0" indent="0" algn="l">
              <a:lnSpc>
                <a:spcPts val="315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  <a:r>
              <a:rPr lang="en-US" sz="1950" b="1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:</a:t>
            </a:r>
            <a:r>
              <a:rPr lang="en-US" sz="1950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OpenRouter, Groq,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HuggingFace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APIs</a:t>
            </a:r>
          </a:p>
          <a:p>
            <a:pPr marL="0" indent="0" algn="l">
              <a:lnSpc>
                <a:spcPts val="315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</a:t>
            </a:r>
            <a:r>
              <a:rPr lang="en-US" sz="1950" b="1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:</a:t>
            </a:r>
            <a:r>
              <a:rPr lang="en-US" sz="1950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 cloud-hosted, </a:t>
            </a:r>
          </a:p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Frontend integrated into library website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6644A09B-B952-4FC7-BDD6-6159D3CA97BD}"/>
              </a:ext>
            </a:extLst>
          </p:cNvPr>
          <p:cNvSpPr/>
          <p:nvPr/>
        </p:nvSpPr>
        <p:spPr>
          <a:xfrm>
            <a:off x="5992011" y="4249609"/>
            <a:ext cx="5567205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System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Prompt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Example</a:t>
            </a:r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60E9A080-B661-41E9-B285-476B891F6E4F}"/>
              </a:ext>
            </a:extLst>
          </p:cNvPr>
          <p:cNvSpPr/>
          <p:nvPr/>
        </p:nvSpPr>
        <p:spPr>
          <a:xfrm>
            <a:off x="5992008" y="4765459"/>
            <a:ext cx="6174888" cy="1611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"Answer based only on retrieved documents. If information is unavailable, guide users to contact library support at library-support@example.com"</a:t>
            </a:r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84A4FB70-CA7B-44D9-B2AC-1E61255AD3DC}"/>
              </a:ext>
            </a:extLst>
          </p:cNvPr>
          <p:cNvSpPr/>
          <p:nvPr/>
        </p:nvSpPr>
        <p:spPr>
          <a:xfrm>
            <a:off x="224842" y="4821937"/>
            <a:ext cx="4960341" cy="478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Analyzer: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LangSmith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90391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830FA88-27FF-48B5-80AD-458876A05CDC}"/>
              </a:ext>
            </a:extLst>
          </p:cNvPr>
          <p:cNvSpPr/>
          <p:nvPr/>
        </p:nvSpPr>
        <p:spPr>
          <a:xfrm>
            <a:off x="3207495" y="221015"/>
            <a:ext cx="5970270" cy="692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Results &amp; Performance</a:t>
            </a:r>
            <a:endParaRPr lang="en-US" sz="435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B4B72EA-21AA-461E-A7B0-2A37269C9869}"/>
              </a:ext>
            </a:extLst>
          </p:cNvPr>
          <p:cNvSpPr/>
          <p:nvPr/>
        </p:nvSpPr>
        <p:spPr>
          <a:xfrm>
            <a:off x="3796556" y="773597"/>
            <a:ext cx="4792147" cy="415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Sample Query Demonstrations</a:t>
            </a:r>
            <a:endParaRPr lang="en-US" sz="26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040D0720-9333-4F6E-9BD1-5F8F2F38572A}"/>
              </a:ext>
            </a:extLst>
          </p:cNvPr>
          <p:cNvSpPr/>
          <p:nvPr/>
        </p:nvSpPr>
        <p:spPr>
          <a:xfrm>
            <a:off x="453538" y="1354433"/>
            <a:ext cx="3848457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Query: "how to check my written paper originality"</a:t>
            </a:r>
            <a:endParaRPr lang="en-US" sz="2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CC3D8E7-4955-4905-9D30-9C979721C5DB}"/>
              </a:ext>
            </a:extLst>
          </p:cNvPr>
          <p:cNvSpPr/>
          <p:nvPr/>
        </p:nvSpPr>
        <p:spPr>
          <a:xfrm>
            <a:off x="453538" y="2197038"/>
            <a:ext cx="3848457" cy="27936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Response</a:t>
            </a:r>
            <a:r>
              <a:rPr lang="en-US" sz="2400" b="1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"Use Turnitin plagiarism check. Upload document and send request to Digital Library with Class ID, Author Name, Title, Submission ID. Contact: console@library.iitkgp.ac.in"</a:t>
            </a:r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D4324B8C-C499-4325-AF13-09C67A00D95F}"/>
              </a:ext>
            </a:extLst>
          </p:cNvPr>
          <p:cNvSpPr/>
          <p:nvPr/>
        </p:nvSpPr>
        <p:spPr>
          <a:xfrm>
            <a:off x="4488893" y="1386488"/>
            <a:ext cx="45719" cy="3798692"/>
          </a:xfrm>
          <a:prstGeom prst="roundRect">
            <a:avLst>
              <a:gd name="adj" fmla="val 306910"/>
            </a:avLst>
          </a:prstGeom>
          <a:solidFill>
            <a:srgbClr val="29DDDA"/>
          </a:solidFill>
          <a:ln/>
        </p:spPr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7EAB5DE6-D417-40A5-A93B-42E4B6AC5F9C}"/>
              </a:ext>
            </a:extLst>
          </p:cNvPr>
          <p:cNvSpPr/>
          <p:nvPr/>
        </p:nvSpPr>
        <p:spPr>
          <a:xfrm>
            <a:off x="4793908" y="1354433"/>
            <a:ext cx="347722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Query: "late fine charge of book"</a:t>
            </a:r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EBC2B2F2-0D21-4E71-836D-E360B56579E4}"/>
              </a:ext>
            </a:extLst>
          </p:cNvPr>
          <p:cNvSpPr/>
          <p:nvPr/>
        </p:nvSpPr>
        <p:spPr>
          <a:xfrm>
            <a:off x="4793908" y="2197038"/>
            <a:ext cx="3477220" cy="15963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Response:</a:t>
            </a:r>
            <a:r>
              <a:rPr lang="en-US" sz="1950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"One rupee (Rs. 1/-) per day per book as overdue charge."</a:t>
            </a:r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512E843-3737-46EE-914C-FC4BC29B8794}"/>
              </a:ext>
            </a:extLst>
          </p:cNvPr>
          <p:cNvSpPr/>
          <p:nvPr/>
        </p:nvSpPr>
        <p:spPr>
          <a:xfrm>
            <a:off x="8217336" y="1343463"/>
            <a:ext cx="53791" cy="3798692"/>
          </a:xfrm>
          <a:prstGeom prst="roundRect">
            <a:avLst>
              <a:gd name="adj" fmla="val 306910"/>
            </a:avLst>
          </a:prstGeom>
          <a:solidFill>
            <a:srgbClr val="37A7E7"/>
          </a:solidFill>
          <a:ln/>
        </p:spPr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D480C727-4499-48E0-BA02-D53A86C8F9A4}"/>
              </a:ext>
            </a:extLst>
          </p:cNvPr>
          <p:cNvSpPr/>
          <p:nvPr/>
        </p:nvSpPr>
        <p:spPr>
          <a:xfrm>
            <a:off x="8504858" y="1354433"/>
            <a:ext cx="3477220" cy="692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Query: "how to get sem question paper"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6C5159B-C335-49AB-8AC8-F303020B22ED}"/>
              </a:ext>
            </a:extLst>
          </p:cNvPr>
          <p:cNvSpPr/>
          <p:nvPr/>
        </p:nvSpPr>
        <p:spPr>
          <a:xfrm>
            <a:off x="8513397" y="2197038"/>
            <a:ext cx="3658300" cy="2019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50" b="1" dirty="0">
                <a:solidFill>
                  <a:srgbClr val="002060"/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Response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"Access via http://10.18.24.75/peqp/. For unlisted papers, email console@library.iitkgp.ac.in"</a:t>
            </a:r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00A0BCB-86CE-4FD5-83A4-5E8F47DDE8C3}"/>
              </a:ext>
            </a:extLst>
          </p:cNvPr>
          <p:cNvSpPr/>
          <p:nvPr/>
        </p:nvSpPr>
        <p:spPr>
          <a:xfrm>
            <a:off x="453538" y="5286208"/>
            <a:ext cx="11530481" cy="798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System demonstrates semantic responses—user terms not in source docs still retrieve</a:t>
            </a:r>
          </a:p>
          <a:p>
            <a:pPr marL="0" indent="0" algn="l">
              <a:lnSpc>
                <a:spcPts val="3100"/>
              </a:lnSpc>
              <a:buNone/>
            </a:pPr>
            <a:r>
              <a:rPr lang="en-US" sz="2400" b="1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accurate  responses. Monitoring via LangSmith shows 0.70s–3.50s latency.</a:t>
            </a:r>
            <a:endParaRPr lang="en-US" sz="2400" b="1" dirty="0">
              <a:solidFill>
                <a:schemeClr val="accent2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16333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ACD1AE4-92FE-495D-90C3-8718EECEED45}"/>
              </a:ext>
            </a:extLst>
          </p:cNvPr>
          <p:cNvSpPr/>
          <p:nvPr/>
        </p:nvSpPr>
        <p:spPr>
          <a:xfrm>
            <a:off x="2798564" y="226892"/>
            <a:ext cx="7111869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Future work </a:t>
            </a:r>
            <a:r>
              <a:rPr lang="en-IN" sz="4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&amp; Improvement</a:t>
            </a:r>
            <a:endParaRPr lang="en-US" sz="4400" b="1" dirty="0">
              <a:solidFill>
                <a:srgbClr val="002060"/>
              </a:solidFill>
              <a:latin typeface="Times New Roman" panose="02020603050405020304" pitchFamily="18" charset="0"/>
              <a:ea typeface="Spline Sans Bold" pitchFamily="34" charset="-122"/>
              <a:cs typeface="Times New Roman" panose="02020603050405020304" pitchFamily="18" charset="0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C60BAE1-FB8B-4825-B864-FD578F4DCCC7}"/>
              </a:ext>
            </a:extLst>
          </p:cNvPr>
          <p:cNvSpPr/>
          <p:nvPr/>
        </p:nvSpPr>
        <p:spPr>
          <a:xfrm>
            <a:off x="881063" y="1254180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Metadata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Integration</a:t>
            </a: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AC89836-3322-438E-B110-11EE7CBE86BC}"/>
              </a:ext>
            </a:extLst>
          </p:cNvPr>
          <p:cNvSpPr/>
          <p:nvPr/>
        </p:nvSpPr>
        <p:spPr>
          <a:xfrm>
            <a:off x="881062" y="1855565"/>
            <a:ext cx="10477653" cy="120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</a:t>
            </a:r>
            <a:r>
              <a:rPr lang="en-US" sz="1950" dirty="0">
                <a:latin typeface="Times New Roman" panose="02020603050405020304" pitchFamily="18" charset="0"/>
                <a:ea typeface="Barlow" pitchFamily="34" charset="-122"/>
                <a:cs typeface="Times New Roman" panose="02020603050405020304" pitchFamily="18" charset="0"/>
              </a:rPr>
              <a:t> 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 of library catalogue and Institutional Digital Repository for semantic resource discovery.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C003814-A96C-40EF-BB09-D802B6DC1EAD}"/>
              </a:ext>
            </a:extLst>
          </p:cNvPr>
          <p:cNvSpPr/>
          <p:nvPr/>
        </p:nvSpPr>
        <p:spPr>
          <a:xfrm>
            <a:off x="833284" y="2999546"/>
            <a:ext cx="383500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Multilingual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Support</a:t>
            </a:r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26E1F432-92C9-4463-83EC-D368E7324051}"/>
              </a:ext>
            </a:extLst>
          </p:cNvPr>
          <p:cNvSpPr/>
          <p:nvPr/>
        </p:nvSpPr>
        <p:spPr>
          <a:xfrm>
            <a:off x="833283" y="3506033"/>
            <a:ext cx="10477652" cy="120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15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Hindi, Bengali, and regional language queries for broader accessibility.</a:t>
            </a:r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1090F65-0928-44ED-A908-96209CB84579}"/>
              </a:ext>
            </a:extLst>
          </p:cNvPr>
          <p:cNvSpPr/>
          <p:nvPr/>
        </p:nvSpPr>
        <p:spPr>
          <a:xfrm>
            <a:off x="736619" y="4744912"/>
            <a:ext cx="2797373" cy="349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Service</a:t>
            </a: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Insights</a:t>
            </a:r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05A38D99-FF48-4E07-AE9D-D089978D0FBB}"/>
              </a:ext>
            </a:extLst>
          </p:cNvPr>
          <p:cNvSpPr/>
          <p:nvPr/>
        </p:nvSpPr>
        <p:spPr>
          <a:xfrm>
            <a:off x="765893" y="5156501"/>
            <a:ext cx="10723274" cy="12087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query patterns to identify gaps and introduce new library services.</a:t>
            </a:r>
          </a:p>
        </p:txBody>
      </p:sp>
    </p:spTree>
    <p:extLst>
      <p:ext uri="{BB962C8B-B14F-4D97-AF65-F5344CB8AC3E}">
        <p14:creationId xmlns:p14="http://schemas.microsoft.com/office/powerpoint/2010/main" val="4437919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983A46B-320A-4080-9AC6-85C429CB9466}"/>
              </a:ext>
            </a:extLst>
          </p:cNvPr>
          <p:cNvSpPr/>
          <p:nvPr/>
        </p:nvSpPr>
        <p:spPr>
          <a:xfrm>
            <a:off x="4334268" y="633835"/>
            <a:ext cx="2841083" cy="6992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Conclusion </a:t>
            </a:r>
            <a:endParaRPr lang="en-US" sz="44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9627E9B-BB32-4FDB-9560-00F30C59E661}"/>
              </a:ext>
            </a:extLst>
          </p:cNvPr>
          <p:cNvSpPr/>
          <p:nvPr/>
        </p:nvSpPr>
        <p:spPr>
          <a:xfrm>
            <a:off x="4334268" y="5368736"/>
            <a:ext cx="3249873" cy="5593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3500" b="1" dirty="0">
                <a:solidFill>
                  <a:srgbClr val="002060"/>
                </a:solidFill>
                <a:latin typeface="Times New Roman" panose="02020603050405020304" pitchFamily="18" charset="0"/>
                <a:ea typeface="Spline Sans Bold" pitchFamily="34" charset="-122"/>
                <a:cs typeface="Times New Roman" panose="02020603050405020304" pitchFamily="18" charset="0"/>
              </a:rPr>
              <a:t>Questions if any</a:t>
            </a:r>
            <a:endParaRPr lang="en-US" sz="35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50BDF0B-9E47-4377-9624-2D527BDEEE13}"/>
              </a:ext>
            </a:extLst>
          </p:cNvPr>
          <p:cNvSpPr/>
          <p:nvPr/>
        </p:nvSpPr>
        <p:spPr>
          <a:xfrm>
            <a:off x="1602718" y="2389144"/>
            <a:ext cx="10274617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Intelligent, accurate library support systems.</a:t>
            </a: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79C5F98F-E8A0-428D-98D5-A008E42DFAC3}"/>
              </a:ext>
            </a:extLst>
          </p:cNvPr>
          <p:cNvSpPr/>
          <p:nvPr/>
        </p:nvSpPr>
        <p:spPr>
          <a:xfrm>
            <a:off x="1516657" y="3268521"/>
            <a:ext cx="10675343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Flexible deployment (local/cloud), chat memory, and </a:t>
            </a:r>
          </a:p>
          <a:p>
            <a:pPr algn="l">
              <a:lnSpc>
                <a:spcPts val="3150"/>
              </a:lnSpc>
              <a:buSzPct val="100000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monitoring tool.</a:t>
            </a:r>
          </a:p>
        </p:txBody>
      </p:sp>
      <p:sp>
        <p:nvSpPr>
          <p:cNvPr id="7" name="Text 2">
            <a:extLst>
              <a:ext uri="{FF2B5EF4-FFF2-40B4-BE49-F238E27FC236}">
                <a16:creationId xmlns:a16="http://schemas.microsoft.com/office/drawing/2014/main" id="{4AD3B2A4-5F54-419A-961C-ECEBC8D5B50F}"/>
              </a:ext>
            </a:extLst>
          </p:cNvPr>
          <p:cNvSpPr/>
          <p:nvPr/>
        </p:nvSpPr>
        <p:spPr>
          <a:xfrm>
            <a:off x="1602718" y="4562921"/>
            <a:ext cx="10274617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50"/>
              </a:lnSpc>
              <a:buSzPct val="10000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Next-generation smart libraries.</a:t>
            </a: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8D08ED9E-8732-44D2-A5D3-226313E31978}"/>
              </a:ext>
            </a:extLst>
          </p:cNvPr>
          <p:cNvSpPr/>
          <p:nvPr/>
        </p:nvSpPr>
        <p:spPr>
          <a:xfrm>
            <a:off x="644028" y="1686303"/>
            <a:ext cx="10903941" cy="8058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RAG-powered AI chatbot successfully demonstrates</a:t>
            </a:r>
          </a:p>
        </p:txBody>
      </p:sp>
    </p:spTree>
    <p:extLst>
      <p:ext uri="{BB962C8B-B14F-4D97-AF65-F5344CB8AC3E}">
        <p14:creationId xmlns:p14="http://schemas.microsoft.com/office/powerpoint/2010/main" val="2378262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1490</TotalTime>
  <Words>683</Words>
  <Application>Microsoft Office PowerPoint</Application>
  <PresentationFormat>Widescreen</PresentationFormat>
  <Paragraphs>100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Liberation Serif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Mir Owahed Ali</cp:lastModifiedBy>
  <cp:revision>129</cp:revision>
  <dcterms:created xsi:type="dcterms:W3CDTF">2025-10-28T06:41:39Z</dcterms:created>
  <dcterms:modified xsi:type="dcterms:W3CDTF">2025-11-02T12:43:18Z</dcterms:modified>
</cp:coreProperties>
</file>